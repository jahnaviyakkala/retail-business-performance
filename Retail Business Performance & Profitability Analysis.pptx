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22" autoAdjust="0"/>
    <p:restoredTop sz="94660"/>
  </p:normalViewPr>
  <p:slideViewPr>
    <p:cSldViewPr snapToGrid="0">
      <p:cViewPr>
        <p:scale>
          <a:sx n="50" d="100"/>
          <a:sy n="50" d="100"/>
        </p:scale>
        <p:origin x="42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959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70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214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112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754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091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207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499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49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74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645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5668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66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955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520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2479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692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061EA-5A62-4B4B-92E7-EC0DDCE3429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51C11-E668-4C80-883C-1C1ACC757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744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BFC76-8C14-EBCA-EEA8-B519207946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Retail Business Performance &amp; Profitability Analysis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4A3F55-93AE-1A76-01D5-B57BBA500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602038"/>
            <a:ext cx="10857052" cy="3111278"/>
          </a:xfrm>
        </p:spPr>
        <p:txBody>
          <a:bodyPr>
            <a:normAutofit/>
          </a:bodyPr>
          <a:lstStyle/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Analyzing retail transactional data to identify profit-draining categories, inventory inefficiencies, and seasonal trends.</a:t>
            </a:r>
          </a:p>
          <a:p>
            <a:r>
              <a:rPr lang="en-US" b="1" dirty="0"/>
              <a:t>Tools Used:</a:t>
            </a:r>
            <a:br>
              <a:rPr lang="en-US" dirty="0"/>
            </a:br>
            <a:r>
              <a:rPr lang="en-US" dirty="0"/>
              <a:t>SQL | Python | Power BI</a:t>
            </a:r>
          </a:p>
          <a:p>
            <a:r>
              <a:rPr lang="en-US" b="1" dirty="0"/>
              <a:t>Prepared by:</a:t>
            </a:r>
            <a:br>
              <a:rPr lang="en-US" dirty="0"/>
            </a:br>
            <a:r>
              <a:rPr lang="en-US" i="1" dirty="0"/>
              <a:t>Y Jahnavi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2974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9A68-F346-2341-D69D-75638E121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5B1C5-E2C9-E58F-1CD2-F7F9E1554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Retail businesses often focus on increasing sales, but:</a:t>
            </a:r>
          </a:p>
          <a:p>
            <a:r>
              <a:rPr lang="en-US" dirty="0"/>
              <a:t>High sales do </a:t>
            </a:r>
            <a:r>
              <a:rPr lang="en-US" b="1" dirty="0"/>
              <a:t>not always mean high profit</a:t>
            </a:r>
            <a:endParaRPr lang="en-US" dirty="0"/>
          </a:p>
          <a:p>
            <a:r>
              <a:rPr lang="en-US" dirty="0"/>
              <a:t>Poor inventory decisions increase holding costs</a:t>
            </a:r>
          </a:p>
          <a:p>
            <a:r>
              <a:rPr lang="en-US" dirty="0"/>
              <a:t>Lack of seasonal planning leads to profit loss</a:t>
            </a:r>
          </a:p>
          <a:p>
            <a:pPr marL="0" indent="0">
              <a:buNone/>
            </a:pPr>
            <a:r>
              <a:rPr lang="en-US" b="1" dirty="0"/>
              <a:t>Key Question:</a:t>
            </a:r>
            <a:br>
              <a:rPr lang="en-US" dirty="0"/>
            </a:br>
            <a:r>
              <a:rPr lang="en-US" dirty="0"/>
              <a:t>How can data be used to improve retail profitability and inventory efficiency?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102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25674-45B3-2FA6-0C77-F76572573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617AF-4749-EA04-A5B9-DB372B754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sales and profit across product categories</a:t>
            </a:r>
          </a:p>
          <a:p>
            <a:r>
              <a:rPr lang="en-US" dirty="0"/>
              <a:t>Identify profit-draining categories</a:t>
            </a:r>
          </a:p>
          <a:p>
            <a:r>
              <a:rPr lang="en-US" dirty="0"/>
              <a:t>Study relationship between inventory quantity and profit</a:t>
            </a:r>
          </a:p>
          <a:p>
            <a:r>
              <a:rPr lang="en-US" dirty="0"/>
              <a:t>Analyze seasonal profit trends</a:t>
            </a:r>
          </a:p>
          <a:p>
            <a:r>
              <a:rPr lang="en-US" dirty="0"/>
              <a:t>Provide data-driven business recommendations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241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6CC41-06F2-8D64-E6D6-757FE7619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E68D3-8240-B9C9-1714-EA1194571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Dataset Type:</a:t>
            </a:r>
            <a:r>
              <a:rPr lang="en-US" dirty="0"/>
              <a:t> Retail transactional sales data</a:t>
            </a:r>
          </a:p>
          <a:p>
            <a:r>
              <a:rPr lang="en-US" b="1" dirty="0"/>
              <a:t>Key Columns:</a:t>
            </a:r>
            <a:endParaRPr lang="en-US" dirty="0"/>
          </a:p>
          <a:p>
            <a:r>
              <a:rPr lang="en-US" dirty="0"/>
              <a:t>Order Date</a:t>
            </a:r>
          </a:p>
          <a:p>
            <a:r>
              <a:rPr lang="en-US" dirty="0"/>
              <a:t>Category</a:t>
            </a:r>
          </a:p>
          <a:p>
            <a:r>
              <a:rPr lang="en-US" dirty="0"/>
              <a:t>Sub-Category</a:t>
            </a:r>
          </a:p>
          <a:p>
            <a:r>
              <a:rPr lang="en-US" dirty="0"/>
              <a:t>Sales</a:t>
            </a:r>
          </a:p>
          <a:p>
            <a:r>
              <a:rPr lang="en-US" dirty="0"/>
              <a:t>Profit</a:t>
            </a:r>
          </a:p>
          <a:p>
            <a:r>
              <a:rPr lang="en-US" dirty="0"/>
              <a:t>Quantity</a:t>
            </a:r>
          </a:p>
          <a:p>
            <a:r>
              <a:rPr lang="en-US" dirty="0"/>
              <a:t>Region</a:t>
            </a:r>
          </a:p>
          <a:p>
            <a:r>
              <a:rPr lang="en-US" b="1" dirty="0"/>
              <a:t>Data Size:</a:t>
            </a:r>
            <a:br>
              <a:rPr lang="en-US" dirty="0"/>
            </a:br>
            <a:r>
              <a:rPr lang="en-US" dirty="0"/>
              <a:t>Order-level transaction records across multiple regions and categories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9428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CA90-C08E-65E2-E175-3C1587F8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BDC9F-184D-75A2-0506-2C388B2D0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b="1" dirty="0"/>
              <a:t>SQL (SQLite)</a:t>
            </a:r>
            <a:endParaRPr lang="en-IN" dirty="0"/>
          </a:p>
          <a:p>
            <a:r>
              <a:rPr lang="en-IN" dirty="0"/>
              <a:t>Data cleaning</a:t>
            </a:r>
          </a:p>
          <a:p>
            <a:r>
              <a:rPr lang="en-IN" dirty="0"/>
              <a:t>Aggregation</a:t>
            </a:r>
          </a:p>
          <a:p>
            <a:r>
              <a:rPr lang="en-IN" dirty="0"/>
              <a:t>Profit margin calculation</a:t>
            </a:r>
          </a:p>
          <a:p>
            <a:r>
              <a:rPr lang="en-IN" b="1" dirty="0"/>
              <a:t>Python (Pandas)</a:t>
            </a:r>
            <a:endParaRPr lang="en-IN" dirty="0"/>
          </a:p>
          <a:p>
            <a:r>
              <a:rPr lang="en-IN" dirty="0"/>
              <a:t>Correlation analysis</a:t>
            </a:r>
          </a:p>
          <a:p>
            <a:r>
              <a:rPr lang="en-IN" dirty="0"/>
              <a:t>Inventory vs profit analysis</a:t>
            </a:r>
          </a:p>
          <a:p>
            <a:r>
              <a:rPr lang="en-IN" dirty="0"/>
              <a:t>Trend analysis</a:t>
            </a:r>
          </a:p>
          <a:p>
            <a:r>
              <a:rPr lang="en-IN" b="1" dirty="0"/>
              <a:t>Power BI</a:t>
            </a:r>
            <a:endParaRPr lang="en-IN" dirty="0"/>
          </a:p>
          <a:p>
            <a:r>
              <a:rPr lang="en-IN" dirty="0"/>
              <a:t>Interactive dashboards</a:t>
            </a:r>
          </a:p>
          <a:p>
            <a:r>
              <a:rPr lang="en-IN" dirty="0"/>
              <a:t>KPI visualization</a:t>
            </a:r>
          </a:p>
          <a:p>
            <a:r>
              <a:rPr lang="en-IN" dirty="0"/>
              <a:t>Business insight generation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4997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76CD-19D2-B49A-6664-D99FC1A61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PROCESS: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8FA1A-435D-5027-9F9A-574173728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Removed null sales, profit, and quantity records</a:t>
            </a:r>
          </a:p>
          <a:p>
            <a:r>
              <a:rPr lang="en-IN" dirty="0"/>
              <a:t>Filtered invalid quantity values</a:t>
            </a:r>
          </a:p>
          <a:p>
            <a:r>
              <a:rPr lang="en-IN" dirty="0"/>
              <a:t>Standardized column names</a:t>
            </a:r>
          </a:p>
          <a:p>
            <a:r>
              <a:rPr lang="en-IN" dirty="0"/>
              <a:t>Created clean analytical dataset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Ensured high data quality before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5211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506A1-DFCF-0E74-2D56-29E45DF97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086" y="219919"/>
            <a:ext cx="6210782" cy="590309"/>
          </a:xfrm>
        </p:spPr>
        <p:txBody>
          <a:bodyPr>
            <a:normAutofit/>
          </a:bodyPr>
          <a:lstStyle/>
          <a:p>
            <a:r>
              <a:rPr lang="en-IN" dirty="0"/>
              <a:t>SALES &amp; PROFIT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7577A-5C49-9712-A46A-899614106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615" y="810228"/>
            <a:ext cx="9960980" cy="261877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Key Observations:</a:t>
            </a:r>
            <a:endParaRPr lang="en-US" dirty="0"/>
          </a:p>
          <a:p>
            <a:r>
              <a:rPr lang="en-US" dirty="0"/>
              <a:t>Technology category generates highest total profit</a:t>
            </a:r>
          </a:p>
          <a:p>
            <a:r>
              <a:rPr lang="en-US" dirty="0"/>
              <a:t>Furniture shows reasonable sales but low profit contribution</a:t>
            </a:r>
          </a:p>
          <a:p>
            <a:pPr marL="0" indent="0">
              <a:buNone/>
            </a:pPr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High sales volume does not always translate into high profitability.</a:t>
            </a:r>
          </a:p>
          <a:p>
            <a:endParaRPr lang="en-IN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B243A0FD-7BDB-7982-1350-C803351DF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30" y="3152325"/>
            <a:ext cx="4825324" cy="3485756"/>
          </a:xfrm>
          <a:prstGeom prst="rect">
            <a:avLst/>
          </a:prstGeom>
        </p:spPr>
      </p:pic>
      <p:pic>
        <p:nvPicPr>
          <p:cNvPr id="7" name="Picture 6" descr="A screenshot of a graph">
            <a:extLst>
              <a:ext uri="{FF2B5EF4-FFF2-40B4-BE49-F238E27FC236}">
                <a16:creationId xmlns:a16="http://schemas.microsoft.com/office/drawing/2014/main" id="{71E21B23-1E86-4F36-DB62-8EC557DB4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52325"/>
            <a:ext cx="5132513" cy="370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98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4173-FD82-2567-D7AE-E96E55F5A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06"/>
            <a:ext cx="7159906" cy="549275"/>
          </a:xfrm>
        </p:spPr>
        <p:txBody>
          <a:bodyPr>
            <a:normAutofit fontScale="90000"/>
          </a:bodyPr>
          <a:lstStyle/>
          <a:p>
            <a:r>
              <a:rPr lang="en-IN" dirty="0"/>
              <a:t>PROFIT MARGIN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915BF-1721-8553-6A7C-DC3663368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4482"/>
            <a:ext cx="10515600" cy="3020991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Profit Margin Formula:</a:t>
            </a:r>
            <a:br>
              <a:rPr lang="en-US" sz="2400" dirty="0"/>
            </a:br>
            <a:r>
              <a:rPr lang="en-US" sz="2400" dirty="0"/>
              <a:t>Profit Margin = (Total Profit / Total Sales) × 100</a:t>
            </a:r>
          </a:p>
          <a:p>
            <a:r>
              <a:rPr lang="en-US" sz="2400" b="1" dirty="0"/>
              <a:t>Findings:</a:t>
            </a:r>
            <a:endParaRPr lang="en-US" sz="2400" dirty="0"/>
          </a:p>
          <a:p>
            <a:r>
              <a:rPr lang="en-US" sz="2400" dirty="0"/>
              <a:t>Office Supplies has the highest profit margin</a:t>
            </a:r>
          </a:p>
          <a:p>
            <a:r>
              <a:rPr lang="en-US" sz="2400" dirty="0"/>
              <a:t>Furniture has the lowest profit margin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b="1" dirty="0"/>
              <a:t>Insight:</a:t>
            </a:r>
            <a:br>
              <a:rPr lang="en-US" sz="2400" dirty="0"/>
            </a:br>
            <a:r>
              <a:rPr lang="en-US" sz="2400" dirty="0"/>
              <a:t>Efficiency matters more than sales volume.</a:t>
            </a:r>
          </a:p>
          <a:p>
            <a:endParaRPr lang="en-IN" dirty="0"/>
          </a:p>
        </p:txBody>
      </p:sp>
      <p:pic>
        <p:nvPicPr>
          <p:cNvPr id="5" name="Picture 4" descr="A graph of blue rectangular shapes">
            <a:extLst>
              <a:ext uri="{FF2B5EF4-FFF2-40B4-BE49-F238E27FC236}">
                <a16:creationId xmlns:a16="http://schemas.microsoft.com/office/drawing/2014/main" id="{845AE1A1-CCBF-9F1D-67B8-B8F4727E1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24" y="3544974"/>
            <a:ext cx="4653023" cy="331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16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0F63B-EB43-3045-554A-110172308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5145911" cy="567160"/>
          </a:xfrm>
        </p:spPr>
        <p:txBody>
          <a:bodyPr>
            <a:normAutofit fontScale="90000"/>
          </a:bodyPr>
          <a:lstStyle/>
          <a:p>
            <a:r>
              <a:rPr lang="en-IN" dirty="0"/>
              <a:t>POWER BI DASHBOARD: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89B3B-9B29-2E2D-A120-28173E9E4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4481"/>
            <a:ext cx="10515600" cy="548248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 descr="A screenshot of a computer screen">
            <a:extLst>
              <a:ext uri="{FF2B5EF4-FFF2-40B4-BE49-F238E27FC236}">
                <a16:creationId xmlns:a16="http://schemas.microsoft.com/office/drawing/2014/main" id="{458711C5-958F-255F-3E21-1CE7BBD1F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1036"/>
            <a:ext cx="10581456" cy="571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964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73A46-C5AE-D05B-1A78-AE433988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747"/>
            <a:ext cx="10515600" cy="565291"/>
          </a:xfrm>
        </p:spPr>
        <p:txBody>
          <a:bodyPr>
            <a:normAutofit fontScale="90000"/>
          </a:bodyPr>
          <a:lstStyle/>
          <a:p>
            <a:r>
              <a:rPr lang="en-IN" dirty="0"/>
              <a:t>KEY 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5AE82-CFA8-0F62-F20C-81A63DA78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137" y="844952"/>
            <a:ext cx="10867663" cy="533201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Key Insights</a:t>
            </a:r>
          </a:p>
          <a:p>
            <a:r>
              <a:rPr lang="en-US" dirty="0"/>
              <a:t>Furniture is a profit-draining category</a:t>
            </a:r>
          </a:p>
          <a:p>
            <a:r>
              <a:rPr lang="en-US" dirty="0"/>
              <a:t>Office Supplies is the most efficient category</a:t>
            </a:r>
          </a:p>
          <a:p>
            <a:r>
              <a:rPr lang="en-US" dirty="0"/>
              <a:t>Inventory quantity alone does not drive profit</a:t>
            </a:r>
          </a:p>
          <a:p>
            <a:r>
              <a:rPr lang="en-US" dirty="0"/>
              <a:t>Seasonal trends strongly affect profitability</a:t>
            </a:r>
          </a:p>
          <a:p>
            <a:r>
              <a:rPr lang="en-US" b="1" dirty="0"/>
              <a:t>Recommendations</a:t>
            </a:r>
          </a:p>
          <a:p>
            <a:r>
              <a:rPr lang="en-US" dirty="0"/>
              <a:t>Optimize inventory for low-margin categories</a:t>
            </a:r>
          </a:p>
          <a:p>
            <a:r>
              <a:rPr lang="en-US" dirty="0"/>
              <a:t>Focus on high-margin products</a:t>
            </a:r>
          </a:p>
          <a:p>
            <a:r>
              <a:rPr lang="en-US" dirty="0"/>
              <a:t>Adopt seasonal stocking strategies</a:t>
            </a:r>
          </a:p>
          <a:p>
            <a:r>
              <a:rPr lang="en-US" dirty="0"/>
              <a:t>Track profit efficiency, not just sales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9665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0CA4-4184-DCFC-7839-AEEC4ECD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0298"/>
          </a:xfrm>
        </p:spPr>
        <p:txBody>
          <a:bodyPr>
            <a:normAutofit/>
          </a:bodyPr>
          <a:lstStyle/>
          <a:p>
            <a:r>
              <a:rPr lang="en-IN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AD930-2806-F567-88AA-01E1149E0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881"/>
            <a:ext cx="10515600" cy="4568082"/>
          </a:xfrm>
        </p:spPr>
        <p:txBody>
          <a:bodyPr/>
          <a:lstStyle/>
          <a:p>
            <a:r>
              <a:rPr lang="en-US" dirty="0"/>
              <a:t>This project demonstrates how combining SQL, Python, and Power BI enables:</a:t>
            </a:r>
          </a:p>
          <a:p>
            <a:r>
              <a:rPr lang="en-US" dirty="0"/>
              <a:t>Identification of hidden profit inefficiencies</a:t>
            </a:r>
          </a:p>
          <a:p>
            <a:r>
              <a:rPr lang="en-US" dirty="0"/>
              <a:t>Better inventory decision-making</a:t>
            </a:r>
          </a:p>
          <a:p>
            <a:r>
              <a:rPr lang="en-US" dirty="0"/>
              <a:t>Improved understanding of seasonal demand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Outcome:</a:t>
            </a:r>
            <a:br>
              <a:rPr lang="en-US" dirty="0"/>
            </a:br>
            <a:r>
              <a:rPr lang="en-US" dirty="0"/>
              <a:t>Data-driven strategies can significantly improve retail profitability.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72199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395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Retail Business Performance &amp; Profitability Analysis</vt:lpstr>
      <vt:lpstr>BUSINESS PROBLEM</vt:lpstr>
      <vt:lpstr>PROJECT OBJECTIVES:</vt:lpstr>
      <vt:lpstr>DATASET OVERVIEW</vt:lpstr>
      <vt:lpstr>TOOLS &amp; APPROACH</vt:lpstr>
      <vt:lpstr>DATA CLEANING PROCESS:</vt:lpstr>
      <vt:lpstr>SALES &amp; PROFIT ANALYSIS:</vt:lpstr>
      <vt:lpstr>PROFIT MARGIN ANALYSIS:</vt:lpstr>
      <vt:lpstr>POWER BI DASHBOARD:</vt:lpstr>
      <vt:lpstr>KEY INSIGHTS &amp; RECOMMENDATIONS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Jahnavi Yakkala</dc:creator>
  <cp:lastModifiedBy>Jahnavi Yakkala</cp:lastModifiedBy>
  <cp:revision>1</cp:revision>
  <dcterms:created xsi:type="dcterms:W3CDTF">2026-01-05T19:09:18Z</dcterms:created>
  <dcterms:modified xsi:type="dcterms:W3CDTF">2026-01-05T19:10:16Z</dcterms:modified>
</cp:coreProperties>
</file>